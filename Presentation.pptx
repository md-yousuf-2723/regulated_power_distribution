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Quattrocento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QuattrocentoSans-bold.fntdata"/><Relationship Id="rId16" Type="http://schemas.openxmlformats.org/officeDocument/2006/relationships/font" Target="fonts/QuattrocentoSans-regular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QuattrocentoSans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QuattrocentoSa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acda470a2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facda470a2_2_2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acda470a2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facda470a2_2_16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acda470a2_2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facda470a2_2_26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acda470a2_2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facda470a2_2_35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acda470a2_2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facda470a2_2_43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acda470a2_2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facda470a2_2_51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acda470a2_2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facda470a2_2_62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acda470a2_2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facda470a2_2_72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acda470a2_2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facda470a2_2_83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5"/>
          <p:cNvSpPr/>
          <p:nvPr/>
        </p:nvSpPr>
        <p:spPr>
          <a:xfrm>
            <a:off x="0" y="855352"/>
            <a:ext cx="9144000" cy="528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3000"/>
              <a:buFont typeface="Quattrocento Sans"/>
              <a:buNone/>
            </a:pPr>
            <a:r>
              <a:rPr b="1" i="0" lang="en-GB" sz="3000" u="none" cap="none" strike="noStrike">
                <a:solidFill>
                  <a:srgbClr val="38BD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Regulated Power Distribution System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5"/>
          <p:cNvSpPr/>
          <p:nvPr/>
        </p:nvSpPr>
        <p:spPr>
          <a:xfrm>
            <a:off x="0" y="144114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Quattrocento Sans"/>
              <a:buNone/>
            </a:pPr>
            <a:r>
              <a:rPr b="0" i="0" lang="en-GB" sz="13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Intelligent Active Monitoring and Control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0" y="2126940"/>
            <a:ext cx="9144000" cy="2429210"/>
          </a:xfrm>
          <a:prstGeom prst="roundRect">
            <a:avLst>
              <a:gd fmla="val 2941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5"/>
          <p:cNvSpPr/>
          <p:nvPr/>
        </p:nvSpPr>
        <p:spPr>
          <a:xfrm>
            <a:off x="0" y="2126940"/>
            <a:ext cx="28575" cy="2429210"/>
          </a:xfrm>
          <a:custGeom>
            <a:rect b="b" l="l" r="r" t="t"/>
            <a:pathLst>
              <a:path extrusionOk="0" h="21600" w="21600">
                <a:moveTo>
                  <a:pt x="21600" y="127"/>
                </a:moveTo>
                <a:cubicBezTo>
                  <a:pt x="8002" y="247"/>
                  <a:pt x="0" y="435"/>
                  <a:pt x="0" y="635"/>
                </a:cubicBezTo>
                <a:lnTo>
                  <a:pt x="0" y="20965"/>
                </a:lnTo>
                <a:cubicBezTo>
                  <a:pt x="0" y="21165"/>
                  <a:pt x="8002" y="21353"/>
                  <a:pt x="21600" y="21473"/>
                </a:cubicBezTo>
                <a:lnTo>
                  <a:pt x="21600" y="21270"/>
                </a:lnTo>
                <a:cubicBezTo>
                  <a:pt x="21600" y="21198"/>
                  <a:pt x="21600" y="21085"/>
                  <a:pt x="21600" y="20965"/>
                </a:cubicBezTo>
                <a:lnTo>
                  <a:pt x="21600" y="635"/>
                </a:lnTo>
                <a:cubicBezTo>
                  <a:pt x="21600" y="515"/>
                  <a:pt x="21600" y="402"/>
                  <a:pt x="21600" y="330"/>
                </a:cubicBezTo>
                <a:lnTo>
                  <a:pt x="21600" y="127"/>
                </a:lnTo>
                <a:close/>
              </a:path>
            </a:pathLst>
          </a:cu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5"/>
          <p:cNvSpPr/>
          <p:nvPr/>
        </p:nvSpPr>
        <p:spPr>
          <a:xfrm>
            <a:off x="171450" y="2403537"/>
            <a:ext cx="8829675" cy="178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000"/>
              <a:buFont typeface="Quattrocento Sans"/>
              <a:buNone/>
            </a:pPr>
            <a:r>
              <a:rPr b="1" i="0" lang="en-GB" sz="1000" u="none" cap="none" strike="noStrike">
                <a:solidFill>
                  <a:srgbClr val="38BD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Project Team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457200" y="2715853"/>
            <a:ext cx="8543925" cy="274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1600" lvl="0" marL="1016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Quattrocento Sans"/>
              <a:buChar char="•"/>
            </a:pPr>
            <a:r>
              <a:rPr b="1" i="0" lang="en-GB" sz="13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Md. Yousuf</a:t>
            </a:r>
            <a:r>
              <a:rPr b="0" i="0" lang="en-GB" sz="13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- Roll: 2310023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457200" y="3097262"/>
            <a:ext cx="8543925" cy="274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1600" lvl="0" marL="1016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Quattrocento Sans"/>
              <a:buChar char="•"/>
            </a:pPr>
            <a:r>
              <a:rPr b="1" lang="en-GB" sz="1300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Topu kumar Mondol - Roll: 2310003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457200" y="3478671"/>
            <a:ext cx="8543925" cy="274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1600" lvl="0" marL="1016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Quattrocento Sans"/>
              <a:buChar char="•"/>
            </a:pPr>
            <a:r>
              <a:rPr b="1" lang="en-GB" sz="1300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Anandita Sarkar Ar</a:t>
            </a:r>
            <a:r>
              <a:rPr lang="en-GB" sz="1300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ni - </a:t>
            </a:r>
            <a:r>
              <a:rPr b="0" i="0" lang="en-GB" sz="13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Roll: [</a:t>
            </a:r>
            <a:r>
              <a:rPr lang="en-GB" sz="1300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2310029</a:t>
            </a:r>
            <a:r>
              <a:rPr b="0" i="0" lang="en-GB" sz="13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171450" y="3867224"/>
            <a:ext cx="8829675" cy="438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Quattrocento Sans"/>
              <a:buNone/>
            </a:pPr>
            <a:r>
              <a:rPr b="0" i="0" lang="en-GB" sz="10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Department of Electrical and Computer Engineering</a:t>
            </a:r>
            <a:b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GB" sz="10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Rajshahi University of Engineering and Technology (RUET)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0" name="Google Shape;7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6"/>
          <p:cNvSpPr/>
          <p:nvPr/>
        </p:nvSpPr>
        <p:spPr>
          <a:xfrm>
            <a:off x="0" y="1358094"/>
            <a:ext cx="9144000" cy="464344"/>
          </a:xfrm>
          <a:prstGeom prst="rect">
            <a:avLst/>
          </a:prstGeom>
          <a:noFill/>
          <a:ln>
            <a:noFill/>
          </a:ln>
        </p:spPr>
        <p:txBody>
          <a:bodyPr anchorCtr="0" anchor="t" bIns="88375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100"/>
              <a:buFont typeface="Quattrocento Sans"/>
              <a:buNone/>
            </a:pPr>
            <a:r>
              <a:rPr b="1" i="0" lang="en-GB" sz="2100" u="none" cap="none" strike="noStrike">
                <a:solidFill>
                  <a:srgbClr val="38BD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What is Our Project?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0" y="1808150"/>
            <a:ext cx="9144000" cy="14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/>
          <p:nvPr/>
        </p:nvSpPr>
        <p:spPr>
          <a:xfrm>
            <a:off x="285750" y="2108188"/>
            <a:ext cx="8858250" cy="274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1600" lvl="0" marL="1016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Quattrocento Sans"/>
              <a:buChar char="•"/>
            </a:pPr>
            <a:r>
              <a:rPr b="0" i="0" lang="en-GB" sz="13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 intelligent, active power monitoring and distribution system.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285750" y="2489597"/>
            <a:ext cx="8858250" cy="274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1600" lvl="0" marL="1016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Quattrocento Sans"/>
              <a:buChar char="•"/>
            </a:pPr>
            <a:r>
              <a:rPr b="0" i="0" lang="en-GB" sz="13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Utilizes an STM32 Blue Pill microcontroller as the central processing unit.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285750" y="2871006"/>
            <a:ext cx="8858250" cy="274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1600" lvl="0" marL="1016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Quattrocento Sans"/>
              <a:buChar char="•"/>
            </a:pPr>
            <a:r>
              <a:rPr b="0" i="0" lang="en-GB" sz="13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Gathers real-time telemetry (voltage and current) via an INA219 I2C sensor.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285750" y="3252415"/>
            <a:ext cx="8858250" cy="548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1600" lvl="0" marL="1016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Quattrocento Sans"/>
              <a:buChar char="•"/>
            </a:pPr>
            <a:r>
              <a:rPr b="0" i="0" lang="en-GB" sz="13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Dynamically controls a power rail using a low-side IRLZ44N MOSFET based on strict, programmed software thresholds.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1" name="Google Shape;8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/>
          <p:nvPr/>
        </p:nvSpPr>
        <p:spPr>
          <a:xfrm>
            <a:off x="0" y="1274601"/>
            <a:ext cx="9144000" cy="464344"/>
          </a:xfrm>
          <a:prstGeom prst="rect">
            <a:avLst/>
          </a:prstGeom>
          <a:noFill/>
          <a:ln>
            <a:noFill/>
          </a:ln>
        </p:spPr>
        <p:txBody>
          <a:bodyPr anchorCtr="0" anchor="t" bIns="88375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100"/>
              <a:buFont typeface="Quattrocento Sans"/>
              <a:buNone/>
            </a:pPr>
            <a:r>
              <a:rPr b="1" i="0" lang="en-GB" sz="2100" u="none" cap="none" strike="noStrike">
                <a:solidFill>
                  <a:srgbClr val="38BD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Problem We Are Solving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0" y="1724658"/>
            <a:ext cx="9144000" cy="14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7"/>
          <p:cNvSpPr/>
          <p:nvPr/>
        </p:nvSpPr>
        <p:spPr>
          <a:xfrm>
            <a:off x="285750" y="2024695"/>
            <a:ext cx="8858250" cy="548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1600" lvl="0" marL="1016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Quattrocento Sans"/>
              <a:buChar char="•"/>
            </a:pPr>
            <a:r>
              <a:rPr b="1" i="0" lang="en-GB" sz="13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Hardware Vulnerability:</a:t>
            </a:r>
            <a:r>
              <a:rPr b="0" i="0" lang="en-GB" sz="13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Sensitive electronic components are easily destroyed by sudden over-voltage spikes or under-voltage brownouts.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285750" y="2680357"/>
            <a:ext cx="8858250" cy="548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1600" lvl="0" marL="1016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Quattrocento Sans"/>
              <a:buChar char="•"/>
            </a:pPr>
            <a:r>
              <a:rPr b="1" i="0" lang="en-GB" sz="13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Dumb Power Supplies:</a:t>
            </a:r>
            <a:r>
              <a:rPr b="0" i="0" lang="en-GB" sz="13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Standard unregulated power sources cannot adapt to dynamic loads or shut themselves down during a fault condition.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285750" y="3336020"/>
            <a:ext cx="8858250" cy="548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1600" lvl="0" marL="1016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Quattrocento Sans"/>
              <a:buChar char="•"/>
            </a:pPr>
            <a:r>
              <a:rPr b="1" i="0" lang="en-GB" sz="13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Our Solution:</a:t>
            </a:r>
            <a:r>
              <a:rPr b="0" i="0" lang="en-GB" sz="13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 programmable, automated safety fail-safe that monitors bus voltage in real-time and physically cuts the circuit in milliseconds if the power exits the safe operating window.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1" name="Google Shape;9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8"/>
          <p:cNvSpPr/>
          <p:nvPr/>
        </p:nvSpPr>
        <p:spPr>
          <a:xfrm>
            <a:off x="0" y="1695859"/>
            <a:ext cx="9144000" cy="464344"/>
          </a:xfrm>
          <a:prstGeom prst="rect">
            <a:avLst/>
          </a:prstGeom>
          <a:noFill/>
          <a:ln>
            <a:noFill/>
          </a:ln>
        </p:spPr>
        <p:txBody>
          <a:bodyPr anchorCtr="0" anchor="t" bIns="88375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100"/>
              <a:buFont typeface="Quattrocento Sans"/>
              <a:buNone/>
            </a:pPr>
            <a:r>
              <a:rPr b="1" i="0" lang="en-GB" sz="2100" u="none" cap="none" strike="noStrike">
                <a:solidFill>
                  <a:srgbClr val="38BD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System Flow Logic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8"/>
          <p:cNvSpPr/>
          <p:nvPr/>
        </p:nvSpPr>
        <p:spPr>
          <a:xfrm>
            <a:off x="0" y="2145916"/>
            <a:ext cx="9144000" cy="14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8"/>
          <p:cNvSpPr/>
          <p:nvPr/>
        </p:nvSpPr>
        <p:spPr>
          <a:xfrm>
            <a:off x="0" y="2503103"/>
            <a:ext cx="9144000" cy="274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Quattrocento Sans"/>
              <a:buNone/>
            </a:pPr>
            <a:r>
              <a:rPr b="0" i="0" lang="en-GB" sz="13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operational pipeline from raw power to safely controlled output: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0" y="3027387"/>
            <a:ext cx="9144000" cy="657225"/>
          </a:xfrm>
          <a:prstGeom prst="roundRect">
            <a:avLst>
              <a:gd fmla="val 13043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00" y="3120238"/>
            <a:ext cx="9099602" cy="52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1" name="Google Shape;10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0" y="529037"/>
            <a:ext cx="9144000" cy="4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88375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100"/>
              <a:buFont typeface="Quattrocento Sans"/>
              <a:buNone/>
            </a:pPr>
            <a:r>
              <a:rPr b="1" i="0" lang="en-GB" sz="2100" u="none" cap="none" strike="noStrike">
                <a:solidFill>
                  <a:srgbClr val="38BD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Circuit Design &amp; Hardware Demonstration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9"/>
          <p:cNvSpPr/>
          <p:nvPr/>
        </p:nvSpPr>
        <p:spPr>
          <a:xfrm>
            <a:off x="-50" y="1048144"/>
            <a:ext cx="9144000" cy="144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9"/>
          <p:cNvSpPr/>
          <p:nvPr/>
        </p:nvSpPr>
        <p:spPr>
          <a:xfrm>
            <a:off x="-182475" y="1117281"/>
            <a:ext cx="9144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Quattrocento Sans"/>
              <a:buNone/>
            </a:pPr>
            <a:r>
              <a:rPr b="0" i="0" lang="en-GB" sz="13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physical routing maps the high-voltage load path independently from the 3.3V logic path.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1175" y="1466025"/>
            <a:ext cx="5183574" cy="344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0" name="Google Shape;1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0"/>
          <p:cNvSpPr/>
          <p:nvPr/>
        </p:nvSpPr>
        <p:spPr>
          <a:xfrm>
            <a:off x="0" y="767953"/>
            <a:ext cx="9144000" cy="464344"/>
          </a:xfrm>
          <a:prstGeom prst="rect">
            <a:avLst/>
          </a:prstGeom>
          <a:noFill/>
          <a:ln>
            <a:noFill/>
          </a:ln>
        </p:spPr>
        <p:txBody>
          <a:bodyPr anchorCtr="0" anchor="t" bIns="88375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100"/>
              <a:buFont typeface="Quattrocento Sans"/>
              <a:buNone/>
            </a:pPr>
            <a:r>
              <a:rPr b="1" i="0" lang="en-GB" sz="2100" u="none" cap="none" strike="noStrike">
                <a:solidFill>
                  <a:srgbClr val="38BD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STM32 Code &amp; Logic Explanation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0"/>
          <p:cNvSpPr/>
          <p:nvPr/>
        </p:nvSpPr>
        <p:spPr>
          <a:xfrm>
            <a:off x="0" y="1218009"/>
            <a:ext cx="9144000" cy="14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0"/>
          <p:cNvSpPr/>
          <p:nvPr/>
        </p:nvSpPr>
        <p:spPr>
          <a:xfrm>
            <a:off x="285750" y="1518047"/>
            <a:ext cx="8858250" cy="5627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1600" lvl="0" marL="1016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Quattrocento Sans"/>
              <a:buChar char="•"/>
            </a:pPr>
            <a:r>
              <a:rPr b="1" i="0" lang="en-GB" sz="13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Initialization:</a:t>
            </a:r>
            <a:r>
              <a:rPr b="0" i="0" lang="en-GB" sz="13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The MOSFET pin (PA8) is forced LOW instantly at boot to prevent floating-pin misfires while the sensor initializes.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0"/>
          <p:cNvSpPr/>
          <p:nvPr/>
        </p:nvSpPr>
        <p:spPr>
          <a:xfrm>
            <a:off x="285750" y="2209428"/>
            <a:ext cx="121321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Quattrocento Sans"/>
              <a:buNone/>
            </a:pPr>
            <a:r>
              <a:rPr b="1" i="0" lang="en-GB" sz="13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Core Loop: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0"/>
          <p:cNvSpPr/>
          <p:nvPr/>
        </p:nvSpPr>
        <p:spPr>
          <a:xfrm>
            <a:off x="0" y="2683706"/>
            <a:ext cx="9144000" cy="1928813"/>
          </a:xfrm>
          <a:prstGeom prst="roundRect">
            <a:avLst>
              <a:gd fmla="val 2963" name="adj"/>
            </a:avLst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/>
          <p:nvPr/>
        </p:nvSpPr>
        <p:spPr>
          <a:xfrm>
            <a:off x="0" y="2683706"/>
            <a:ext cx="9144000" cy="1928813"/>
          </a:xfrm>
          <a:prstGeom prst="rect">
            <a:avLst/>
          </a:prstGeom>
          <a:noFill/>
          <a:ln>
            <a:noFill/>
          </a:ln>
        </p:spPr>
        <p:txBody>
          <a:bodyPr anchorCtr="0" anchor="t" bIns="110475" lIns="139950" spcFirstLastPara="1" rIns="110475" wrap="square" tIns="1104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900"/>
              <a:buFont typeface="Consolas"/>
              <a:buNone/>
            </a:pPr>
            <a:r>
              <a:rPr b="0" i="0" lang="en-GB" sz="9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float loadVoltage = ina219.getBusVoltage_V(); </a:t>
            </a:r>
            <a:b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GB" sz="9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if (loadVoltage &gt;= 3.5 &amp;&amp; loadVoltage &lt;= 4.00) {</a:t>
            </a:r>
            <a:b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GB" sz="9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// Voltage is safe -&gt; Open Gate</a:t>
            </a:r>
            <a:b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GB" sz="9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digitalWrite(mosfetPin, HIGH);</a:t>
            </a:r>
            <a:b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GB" sz="9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Serial.println("STATUS: SAFE -&gt; OUTPUT ENABLED");</a:t>
            </a:r>
            <a:b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GB" sz="9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 else {</a:t>
            </a:r>
            <a:b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GB" sz="9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// Out of bounds -&gt; Close Gate</a:t>
            </a:r>
            <a:b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GB" sz="9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digitalWrite(mosfetPin, LOW);</a:t>
            </a:r>
            <a:b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GB" sz="9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...</a:t>
            </a:r>
            <a:br>
              <a:rPr b="0" i="0" lang="en-GB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GB" sz="9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0"/>
          <p:cNvSpPr/>
          <p:nvPr/>
        </p:nvSpPr>
        <p:spPr>
          <a:xfrm>
            <a:off x="0" y="2683706"/>
            <a:ext cx="28575" cy="1928813"/>
          </a:xfrm>
          <a:custGeom>
            <a:rect b="b" l="l" r="r" t="t"/>
            <a:pathLst>
              <a:path extrusionOk="0" h="21600" w="21600">
                <a:moveTo>
                  <a:pt x="21600" y="86"/>
                </a:moveTo>
                <a:cubicBezTo>
                  <a:pt x="8234" y="200"/>
                  <a:pt x="0" y="411"/>
                  <a:pt x="0" y="640"/>
                </a:cubicBezTo>
                <a:lnTo>
                  <a:pt x="0" y="20960"/>
                </a:lnTo>
                <a:cubicBezTo>
                  <a:pt x="0" y="21189"/>
                  <a:pt x="8234" y="21400"/>
                  <a:pt x="21600" y="21514"/>
                </a:cubicBezTo>
                <a:lnTo>
                  <a:pt x="21600" y="21237"/>
                </a:lnTo>
                <a:cubicBezTo>
                  <a:pt x="21600" y="21180"/>
                  <a:pt x="21600" y="21074"/>
                  <a:pt x="21600" y="20960"/>
                </a:cubicBezTo>
                <a:lnTo>
                  <a:pt x="21600" y="640"/>
                </a:lnTo>
                <a:cubicBezTo>
                  <a:pt x="21600" y="526"/>
                  <a:pt x="21600" y="420"/>
                  <a:pt x="21600" y="363"/>
                </a:cubicBezTo>
                <a:lnTo>
                  <a:pt x="21600" y="86"/>
                </a:lnTo>
                <a:close/>
              </a:path>
            </a:pathLst>
          </a:custGeom>
          <a:solidFill>
            <a:srgbClr val="4ADE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2" name="Google Shape;12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1"/>
          <p:cNvSpPr/>
          <p:nvPr/>
        </p:nvSpPr>
        <p:spPr>
          <a:xfrm>
            <a:off x="0" y="1495276"/>
            <a:ext cx="9144000" cy="464344"/>
          </a:xfrm>
          <a:prstGeom prst="rect">
            <a:avLst/>
          </a:prstGeom>
          <a:noFill/>
          <a:ln>
            <a:noFill/>
          </a:ln>
        </p:spPr>
        <p:txBody>
          <a:bodyPr anchorCtr="0" anchor="t" bIns="88375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100"/>
              <a:buFont typeface="Quattrocento Sans"/>
              <a:buNone/>
            </a:pPr>
            <a:r>
              <a:rPr b="1" i="0" lang="en-GB" sz="2100" u="none" cap="none" strike="noStrike">
                <a:solidFill>
                  <a:srgbClr val="38BD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Where Can We Use It?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1"/>
          <p:cNvSpPr/>
          <p:nvPr/>
        </p:nvSpPr>
        <p:spPr>
          <a:xfrm>
            <a:off x="0" y="1945332"/>
            <a:ext cx="9144000" cy="14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1"/>
          <p:cNvSpPr/>
          <p:nvPr/>
        </p:nvSpPr>
        <p:spPr>
          <a:xfrm>
            <a:off x="285750" y="2245370"/>
            <a:ext cx="8858250" cy="274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1600" lvl="0" marL="1016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Quattrocento Sans"/>
              <a:buChar char="•"/>
            </a:pPr>
            <a:r>
              <a:rPr b="1" i="0" lang="en-GB" sz="13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Battery Management Systems (BMS):</a:t>
            </a:r>
            <a:r>
              <a:rPr b="0" i="0" lang="en-GB" sz="13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Protecting Li-ion cells from over-discharge or over-charging scenarios.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1"/>
          <p:cNvSpPr/>
          <p:nvPr/>
        </p:nvSpPr>
        <p:spPr>
          <a:xfrm>
            <a:off x="285750" y="2626779"/>
            <a:ext cx="8858250" cy="274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1600" lvl="0" marL="1016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Quattrocento Sans"/>
              <a:buChar char="•"/>
            </a:pPr>
            <a:r>
              <a:rPr b="1" i="0" lang="en-GB" sz="13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Industrial Automation:</a:t>
            </a:r>
            <a:r>
              <a:rPr b="0" i="0" lang="en-GB" sz="13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Creating intelligent fail-safes for sensitive automated machinery.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1"/>
          <p:cNvSpPr/>
          <p:nvPr/>
        </p:nvSpPr>
        <p:spPr>
          <a:xfrm>
            <a:off x="285750" y="3008188"/>
            <a:ext cx="8858250" cy="274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1600" lvl="0" marL="1016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Quattrocento Sans"/>
              <a:buChar char="•"/>
            </a:pPr>
            <a:r>
              <a:rPr b="1" i="0" lang="en-GB" sz="13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Custom Test Benches:</a:t>
            </a:r>
            <a:r>
              <a:rPr b="0" i="0" lang="en-GB" sz="13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Providing regulated, fault-proof channels for lab testing.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1"/>
          <p:cNvSpPr/>
          <p:nvPr/>
        </p:nvSpPr>
        <p:spPr>
          <a:xfrm>
            <a:off x="285750" y="3389598"/>
            <a:ext cx="8858250" cy="274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1600" lvl="0" marL="1016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Quattrocento Sans"/>
              <a:buChar char="•"/>
            </a:pPr>
            <a:r>
              <a:rPr b="1" i="0" lang="en-GB" sz="13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Smart Home Infrastructure:</a:t>
            </a:r>
            <a:r>
              <a:rPr b="0" i="0" lang="en-GB" sz="13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Automated cut-offs for solar or alternative energy storage systems.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3" name="Google Shape;13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2"/>
          <p:cNvSpPr/>
          <p:nvPr/>
        </p:nvSpPr>
        <p:spPr>
          <a:xfrm>
            <a:off x="0" y="944538"/>
            <a:ext cx="9144000" cy="464344"/>
          </a:xfrm>
          <a:prstGeom prst="rect">
            <a:avLst/>
          </a:prstGeom>
          <a:noFill/>
          <a:ln>
            <a:noFill/>
          </a:ln>
        </p:spPr>
        <p:txBody>
          <a:bodyPr anchorCtr="0" anchor="t" bIns="88375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100"/>
              <a:buFont typeface="Quattrocento Sans"/>
              <a:buNone/>
            </a:pPr>
            <a:r>
              <a:rPr b="1" i="0" lang="en-GB" sz="2100" u="none" cap="none" strike="noStrike">
                <a:solidFill>
                  <a:srgbClr val="38BD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CEP Justification (ECE 2100_23S)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2"/>
          <p:cNvSpPr/>
          <p:nvPr/>
        </p:nvSpPr>
        <p:spPr>
          <a:xfrm>
            <a:off x="0" y="1394594"/>
            <a:ext cx="9144000" cy="142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2"/>
          <p:cNvSpPr/>
          <p:nvPr/>
        </p:nvSpPr>
        <p:spPr>
          <a:xfrm>
            <a:off x="0" y="1751781"/>
            <a:ext cx="9144000" cy="274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Quattrocento Sans"/>
              <a:buNone/>
            </a:pPr>
            <a:r>
              <a:rPr b="0" i="0" lang="en-GB" sz="13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This project directly demonstrates core concepts from our curriculum: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2"/>
          <p:cNvSpPr/>
          <p:nvPr/>
        </p:nvSpPr>
        <p:spPr>
          <a:xfrm>
            <a:off x="285750" y="2247491"/>
            <a:ext cx="8858250" cy="548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1600" lvl="0" marL="1016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Quattrocento Sans"/>
              <a:buChar char="•"/>
            </a:pPr>
            <a:r>
              <a:rPr b="1" i="0" lang="en-GB" sz="13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Real-time Sensor Data Acquisition:</a:t>
            </a:r>
            <a:r>
              <a:rPr b="0" i="0" lang="en-GB" sz="13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Utilizing the I2C protocol to interface microcontrollers with external digital ADCs.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2"/>
          <p:cNvSpPr/>
          <p:nvPr/>
        </p:nvSpPr>
        <p:spPr>
          <a:xfrm>
            <a:off x="285750" y="2903153"/>
            <a:ext cx="8858250" cy="548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1600" lvl="0" marL="1016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Quattrocento Sans"/>
              <a:buChar char="•"/>
            </a:pPr>
            <a:r>
              <a:rPr b="1" i="0" lang="en-GB" sz="13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Power Electronics Integration:</a:t>
            </a:r>
            <a:r>
              <a:rPr b="0" i="0" lang="en-GB" sz="13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Practical application of DC-DC step-down conversion (Buck converters) and low-side switching (N-Channel MOSFETs).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2"/>
          <p:cNvSpPr/>
          <p:nvPr/>
        </p:nvSpPr>
        <p:spPr>
          <a:xfrm>
            <a:off x="285750" y="3558815"/>
            <a:ext cx="8858250" cy="274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1600" lvl="0" marL="1016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Quattrocento Sans"/>
              <a:buChar char="•"/>
            </a:pPr>
            <a:r>
              <a:rPr b="1" i="0" lang="en-GB" sz="13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Programmable Logic Control:</a:t>
            </a:r>
            <a:r>
              <a:rPr b="0" i="0" lang="en-GB" sz="13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Translating physical hardware constraints into strict C++ conditional software logic.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2"/>
          <p:cNvSpPr/>
          <p:nvPr/>
        </p:nvSpPr>
        <p:spPr>
          <a:xfrm>
            <a:off x="285750" y="3940225"/>
            <a:ext cx="8858250" cy="274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1600" lvl="0" marL="1016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8FAFC"/>
              </a:buClr>
              <a:buSzPts val="1300"/>
              <a:buFont typeface="Quattrocento Sans"/>
              <a:buChar char="•"/>
            </a:pPr>
            <a:r>
              <a:rPr b="1" i="0" lang="en-GB" sz="13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Circuit Isolation:</a:t>
            </a:r>
            <a:r>
              <a:rPr b="0" i="0" lang="en-GB" sz="1300" u="none" cap="none" strike="noStrike">
                <a:solidFill>
                  <a:srgbClr val="F8FAF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Successfully separating a high-power distribution rail from delicate logic-level control circuitry.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 dir="r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5" name="Google Shape;14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3"/>
          <p:cNvSpPr/>
          <p:nvPr/>
        </p:nvSpPr>
        <p:spPr>
          <a:xfrm>
            <a:off x="0" y="2076710"/>
            <a:ext cx="9144000" cy="757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4300"/>
              <a:buFont typeface="Quattrocento Sans"/>
              <a:buNone/>
            </a:pPr>
            <a:r>
              <a:rPr b="1" i="0" lang="en-GB" sz="4300" u="none" cap="none" strike="noStrike">
                <a:solidFill>
                  <a:srgbClr val="38BD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Thank You</a:t>
            </a:r>
            <a:endParaRPr b="0" i="0" sz="4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3"/>
          <p:cNvSpPr/>
          <p:nvPr/>
        </p:nvSpPr>
        <p:spPr>
          <a:xfrm>
            <a:off x="0" y="2976823"/>
            <a:ext cx="9144000" cy="3656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700"/>
              <a:buFont typeface="Quattrocento Sans"/>
              <a:buNone/>
            </a:pPr>
            <a:r>
              <a:rPr b="0" i="0" lang="en-GB" sz="1700" u="none" cap="none" strike="noStrike">
                <a:solidFill>
                  <a:srgbClr val="94A3B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Questions &amp; Demonstration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 thruBlk="1"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